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2dcf5b90cf47a8" /><Relationship Type="http://schemas.openxmlformats.org/officeDocument/2006/relationships/extended-properties" Target="/docProps/app.xml" Id="R97e130a1a93d4bea" /><Relationship Type="http://schemas.openxmlformats.org/officeDocument/2006/relationships/officeDocument" Target="/ppt/presentation.xml" Id="R035f5d907c964b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e6a4e5b1f4fad"/>
  </p:sldMasterIdLst>
  <p:notesMasterIdLst>
    <p:notesMasterId xmlns:r="http://schemas.openxmlformats.org/officeDocument/2006/relationships" r:id="Re5d5dddcf08a4297"/>
  </p:notesMasterIdLst>
  <p:sldIdLst>
    <p:sldId xmlns:r="http://schemas.openxmlformats.org/officeDocument/2006/relationships" id="256" r:id="Rb45d7fa2335f4a95"/>
    <p:sldId xmlns:r="http://schemas.openxmlformats.org/officeDocument/2006/relationships" id="257" r:id="R6370b17d108f47b8"/>
    <p:sldId xmlns:r="http://schemas.openxmlformats.org/officeDocument/2006/relationships" id="258" r:id="Re1cab6f91c324ccb"/>
    <p:sldId xmlns:r="http://schemas.openxmlformats.org/officeDocument/2006/relationships" id="259" r:id="R5182963000304ec2"/>
    <p:sldId xmlns:r="http://schemas.openxmlformats.org/officeDocument/2006/relationships" id="260" r:id="R144764530b2145aa"/>
    <p:sldId xmlns:r="http://schemas.openxmlformats.org/officeDocument/2006/relationships" id="261" r:id="Rea4bda9e8a08481d"/>
    <p:sldId xmlns:r="http://schemas.openxmlformats.org/officeDocument/2006/relationships" id="262" r:id="R27eb08e742e44c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7e31e4989b4a3e" /><Relationship Type="http://schemas.openxmlformats.org/officeDocument/2006/relationships/slideMaster" Target="/ppt/slideMasters/slideMaster1.xml" Id="Rbdee6a4e5b1f4fad" /><Relationship Type="http://schemas.openxmlformats.org/officeDocument/2006/relationships/notesMaster" Target="/ppt/notesMasters/notesMaster1.xml" Id="Re5d5dddcf08a4297" /><Relationship Type="http://schemas.openxmlformats.org/officeDocument/2006/relationships/presProps" Target="/ppt/presProps.xml" Id="Rddcabec7b6104cf2" /><Relationship Type="http://schemas.openxmlformats.org/officeDocument/2006/relationships/tableStyles" Target="/ppt/tableStyles.xml" Id="R0fc2fbb4084d4c5b" /><Relationship Type="http://schemas.openxmlformats.org/officeDocument/2006/relationships/slide" Target="/ppt/slides/slide1.xml" Id="Rb45d7fa2335f4a95" /><Relationship Type="http://schemas.openxmlformats.org/officeDocument/2006/relationships/slide" Target="/ppt/slides/slide2.xml" Id="R6370b17d108f47b8" /><Relationship Type="http://schemas.openxmlformats.org/officeDocument/2006/relationships/slide" Target="/ppt/slides/slide3.xml" Id="Re1cab6f91c324ccb" /><Relationship Type="http://schemas.openxmlformats.org/officeDocument/2006/relationships/slide" Target="/ppt/slides/slide4.xml" Id="R5182963000304ec2" /><Relationship Type="http://schemas.openxmlformats.org/officeDocument/2006/relationships/slide" Target="/ppt/slides/slide5.xml" Id="R144764530b2145aa" /><Relationship Type="http://schemas.openxmlformats.org/officeDocument/2006/relationships/slide" Target="/ppt/slides/slide6.xml" Id="Rea4bda9e8a08481d" /><Relationship Type="http://schemas.openxmlformats.org/officeDocument/2006/relationships/slide" Target="/ppt/slides/slide7.xml" Id="R27eb08e742e44c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5cc415e5c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ca134e8c524a46" /><Relationship Type="http://schemas.openxmlformats.org/officeDocument/2006/relationships/notesMaster" Target="/ppt/notesMasters/notesMaster1.xml" Id="Rf82ad2b4227545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84e3cfca145c5" /><Relationship Type="http://schemas.openxmlformats.org/officeDocument/2006/relationships/notesMaster" Target="/ppt/notesMasters/notesMaster1.xml" Id="Rfd17f7d026ed42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7ac3c9b6874b83" /><Relationship Type="http://schemas.openxmlformats.org/officeDocument/2006/relationships/notesMaster" Target="/ppt/notesMasters/notesMaster1.xml" Id="R353ae1283fef49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67f88e428a4076" /><Relationship Type="http://schemas.openxmlformats.org/officeDocument/2006/relationships/notesMaster" Target="/ppt/notesMasters/notesMaster1.xml" Id="R03a26870b5af41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6c7e94472746a7" /><Relationship Type="http://schemas.openxmlformats.org/officeDocument/2006/relationships/notesMaster" Target="/ppt/notesMasters/notesMaster1.xml" Id="R611c2a9ea8eb4c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3732fc3ccc420f" /><Relationship Type="http://schemas.openxmlformats.org/officeDocument/2006/relationships/notesMaster" Target="/ppt/notesMasters/notesMaster1.xml" Id="Rd61d9ac31d4444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43a3c587bd4636" /><Relationship Type="http://schemas.openxmlformats.org/officeDocument/2006/relationships/notesMaster" Target="/ppt/notesMasters/notesMaster1.xml" Id="Re1e72157e72e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BondOps pitch deck. Product screenshot from the working local Solana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challenge is servicing after token issuance. BondOps focuses on the action lifecycle rather than initial token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includes the three required scenarios: coupon payment, bond redemption and voting as an additional corporate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record-date snapshot determines the entire coupon entitlement in this prototype. It does not calculate accrued interest split pro rata at a trade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chain demo includes a partial coupon settlement, a reload, a resumed batch and a duplicate-payment rejection.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final demo results are captured in docs/evidence/browser-audit.json. The program was executed on local Solana validator with real SPL Token CPIs.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source repository, demo video and clear implemented versus simulated boundary. Do not claim a public deployment unless the video shows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8cd7ee29347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d17b7fbac4a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efc0a69cb49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6d29181884a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296be1fac41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1b3b6d488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A62218-BDB4-4E6C-AA02-2E20BB53C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435B51-E8E3-46A2-AF5B-06B04D0989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64A94C-4F97-4B17-A09C-57C019AC4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3426EB-40A9-4E5B-BE0F-83E87B741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406574-2B5E-4228-ABD0-E21022D60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F35487-65F2-40E8-94ED-ABDEB679E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C152B0-1ECE-46D9-8530-EC5132B660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EAD1B5-2ED3-4398-8E26-FF1A490962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B8C707-3DBB-4562-801F-DB00929930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503D60-566E-4861-9856-9F5C379C2D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cde5ac77e945fa" /><Relationship Type="http://schemas.openxmlformats.org/officeDocument/2006/relationships/slideLayout" Target="/ppt/slideLayouts/slideLayout1.xml" Id="R271ccb04941041fa" /><Relationship Type="http://schemas.openxmlformats.org/officeDocument/2006/relationships/slideLayout" Target="/ppt/slideLayouts/slideLayout2.xml" Id="R4d854112d17748c9" /><Relationship Type="http://schemas.openxmlformats.org/officeDocument/2006/relationships/slideLayout" Target="/ppt/slideLayouts/slideLayout3.xml" Id="Rfc116c74d9574555" /><Relationship Type="http://schemas.openxmlformats.org/officeDocument/2006/relationships/slideLayout" Target="/ppt/slideLayouts/slideLayout4.xml" Id="Rb50735f029a84971" /><Relationship Type="http://schemas.openxmlformats.org/officeDocument/2006/relationships/slideLayout" Target="/ppt/slideLayouts/slideLayout5.xml" Id="Re067eb619eee4c4a" /><Relationship Type="http://schemas.openxmlformats.org/officeDocument/2006/relationships/slideLayout" Target="/ppt/slideLayouts/slideLayout6.xml" Id="Rc1040825c62f4c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1ccb04941041fa"/>
    <p:sldLayoutId xmlns:r="http://schemas.openxmlformats.org/officeDocument/2006/relationships" id="2147483650" r:id="R4d854112d17748c9"/>
    <p:sldLayoutId xmlns:r="http://schemas.openxmlformats.org/officeDocument/2006/relationships" id="2147483651" r:id="Rfc116c74d9574555"/>
    <p:sldLayoutId xmlns:r="http://schemas.openxmlformats.org/officeDocument/2006/relationships" id="2147483652" r:id="Rb50735f029a84971"/>
    <p:sldLayoutId xmlns:r="http://schemas.openxmlformats.org/officeDocument/2006/relationships" id="2147483653" r:id="Re067eb619eee4c4a"/>
    <p:sldLayoutId xmlns:r="http://schemas.openxmlformats.org/officeDocument/2006/relationships" id="2147483654" r:id="Rc1040825c62f4c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5072475e64cab" /><Relationship Type="http://schemas.openxmlformats.org/officeDocument/2006/relationships/image" Target="/ppt/media/image.jpeg" Id="R708bb47ddb4b4079" /><Relationship Type="http://schemas.openxmlformats.org/officeDocument/2006/relationships/notesSlide" Target="/ppt/notesSlides/notesSlide1.xml" Id="Rb63f22c1f3724c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48962996e46ee" /><Relationship Type="http://schemas.openxmlformats.org/officeDocument/2006/relationships/notesSlide" Target="/ppt/notesSlides/notesSlide2.xml" Id="Rd2d19ff01de248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1cf40127c496c" /><Relationship Type="http://schemas.openxmlformats.org/officeDocument/2006/relationships/notesSlide" Target="/ppt/notesSlides/notesSlide3.xml" Id="Rebee8790ed89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990badd884462" /><Relationship Type="http://schemas.openxmlformats.org/officeDocument/2006/relationships/notesSlide" Target="/ppt/notesSlides/notesSlide4.xml" Id="R9f144b9089aa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3f0c29ad04ce9" /><Relationship Type="http://schemas.openxmlformats.org/officeDocument/2006/relationships/notesSlide" Target="/ppt/notesSlides/notesSlide5.xml" Id="R46a4645d8fde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0bcd9916440ac" /><Relationship Type="http://schemas.openxmlformats.org/officeDocument/2006/relationships/notesSlide" Target="/ppt/notesSlides/notesSlide6.xml" Id="R4da111cecb4545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2dca846b841cc" /><Relationship Type="http://schemas.openxmlformats.org/officeDocument/2006/relationships/notesSlide" Target="/ppt/notesSlides/notesSlide7.xml" Id="Rb78fbb0a836a49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2DEDD-6CCF-479F-B737-70E177D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83FFE-6366-405F-981A-1F3C2EB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42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CCD48-9ABB-4960-9DF9-C725595B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7E36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7E36A"/>
                </a:solidFill>
              </a:defRPr>
            </a:pPr>
            <a:r>
              <a:rPr sz="1500" b="1">
                <a:solidFill>
                  <a:srgbClr val="C7E36A"/>
                </a:solidFill>
              </a:rPr>
              <a:t>BONDOPS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31ED4-C2C2-4716-BE1F-A046568A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7F6EF"/>
                </a:solidFill>
              </a:defRPr>
            </a:pPr>
            <a:r>
              <a:rPr sz="3900" b="1">
                <a:solidFill>
                  <a:srgbClr val="F7F6EF"/>
                </a:solidFill>
              </a:rPr>
              <a:t>Corporate actions</a:t>
            </a:r>
          </a:p>
          <a:p xmlns:a="http://schemas.openxmlformats.org/drawingml/2006/main">
            <a:pPr>
              <a:defRPr sz="3900" b="1">
                <a:solidFill>
                  <a:srgbClr val="F7F6EF"/>
                </a:solidFill>
              </a:defRPr>
            </a:pPr>
            <a:r>
              <a:rPr sz="3900" b="1">
                <a:solidFill>
                  <a:srgbClr val="F7F6EF"/>
                </a:solidFill>
              </a:rPr>
              <a:t>for tokenized bonds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7DC01-802B-4886-BF4A-C379759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7D4BC"/>
                </a:solidFill>
              </a:defRPr>
            </a:pPr>
            <a:r>
              <a:rPr sz="1575" b="0">
                <a:solidFill>
                  <a:srgbClr val="C7D4BC"/>
                </a:solidFill>
              </a:rPr>
              <a:t>Solana prototype for record dates, coupon settlement,</a:t>
            </a:r>
          </a:p>
          <a:p xmlns:a="http://schemas.openxmlformats.org/drawingml/2006/main">
            <a:pPr>
              <a:defRPr sz="1575" b="0">
                <a:solidFill>
                  <a:srgbClr val="C7D4BC"/>
                </a:solidFill>
              </a:defRPr>
            </a:pPr>
            <a:r>
              <a:rPr sz="1575" b="0">
                <a:solidFill>
                  <a:srgbClr val="C7D4BC"/>
                </a:solidFill>
              </a:rPr>
              <a:t>atomic redemption and bondholder voting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F34C9-B97A-4E8A-A1DB-A027E8A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7D4BC"/>
                </a:solidFill>
              </a:defRPr>
            </a:pPr>
            <a:r>
              <a:rPr sz="1125" b="1">
                <a:solidFill>
                  <a:srgbClr val="C7D4BC"/>
                </a:solidFill>
              </a:rPr>
              <a:t>KASE × Superteam Kazakhstan</a:t>
            </a:r>
          </a:p>
          <a:p xmlns:a="http://schemas.openxmlformats.org/drawingml/2006/main">
            <a:pPr>
              <a:defRPr sz="1125" b="1">
                <a:solidFill>
                  <a:srgbClr val="C7D4BC"/>
                </a:solidFill>
              </a:defRPr>
            </a:pPr>
            <a:r>
              <a:rPr sz="1125" b="1">
                <a:solidFill>
                  <a:srgbClr val="C7D4BC"/>
                </a:solidFill>
              </a:rPr>
              <a:t>Colosseum Side Track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C2EA0-9DB4-4ADD-A7F7-7C7007153E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bb47ddb4b4079"/>
          <a:srcRect xmlns:a="http://schemas.openxmlformats.org/drawingml/2006/main" l="2739" t="0" r="27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9925" y="952500"/>
            <a:ext cx="4143375" cy="4953000"/>
          </a:xfrm>
          <a:prstGeom xmlns:a="http://schemas.openxmlformats.org/drawingml/2006/main" prst="roundRect">
            <a:avLst>
              <a:gd name="adj" fmla="val 3678"/>
            </a:avLst>
          </a:prstGeom>
        </p:spPr>
      </p:pic>
    </p:spTree>
    <p:extLst>
      <p:ext uri="{BB962C8B-B14F-4D97-AF65-F5344CB8AC3E}">
        <p14:creationId xmlns:p14="http://schemas.microsoft.com/office/powerpoint/2010/main" val="1727003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E827E-9268-49FD-8472-DE33A5B0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C875D"/>
                </a:solidFill>
              </a:defRPr>
            </a:pPr>
            <a:r>
              <a:rPr sz="975" b="1">
                <a:solidFill>
                  <a:srgbClr val="6C875D"/>
                </a:solidFill>
              </a:rPr>
              <a:t>THE OPERATING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E6CBE-D68C-4F52-A34E-AF92D1AC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D25"/>
                </a:solidFill>
              </a:defRPr>
            </a:pPr>
            <a:r>
              <a:rPr sz="2625" b="1">
                <a:solidFill>
                  <a:srgbClr val="102D25"/>
                </a:solidFill>
              </a:rPr>
              <a:t>A token is only the beginning of a bond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96775-5621-4FFB-9475-AA09395A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Bond issuers must determine rights, calculate money due and prove every outcome after issuance.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87D55-A4FC-47AB-AEC0-CF31C628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D7742-E664-4C10-A4B7-5ADF6F1C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2D25"/>
                </a:solidFill>
              </a:defRPr>
            </a:pPr>
            <a:r>
              <a:rPr sz="1575" b="1">
                <a:solidFill>
                  <a:srgbClr val="102D25"/>
                </a:solidFill>
              </a:rPr>
              <a:t>Without a controlled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2594B-3EFD-48E1-B763-A02BB5B8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A transfer near the cutoff can make the eligible holder unclear.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B2117-10CF-4E99-8A04-A9857A4C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2D25"/>
                </a:solidFill>
              </a:defRPr>
            </a:pPr>
            <a:r>
              <a:rPr sz="1575" b="1">
                <a:solidFill>
                  <a:srgbClr val="102D25"/>
                </a:solidFill>
              </a:rPr>
              <a:t>Without durable settlement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1A248-E51F-4887-A716-7BBF0F55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Retries and interrupted batches can lead to inconsistent records or duplicated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4D4BD-E806-4C3C-9965-517BA576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2D25"/>
                </a:solidFill>
              </a:defRPr>
            </a:pPr>
            <a:r>
              <a:rPr sz="1575" b="1">
                <a:solidFill>
                  <a:srgbClr val="102D25"/>
                </a:solidFill>
              </a:rPr>
              <a:t>Without atomic redemption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14AF0-4C63-4753-8843-B8F148D4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Principal payment and bond retirement can become separate operational events.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5FC76-BCBB-43AE-8800-B54D7501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629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C87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D87C6-1EB7-487E-A452-ADCAE4CF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D25"/>
                </a:solidFill>
              </a:defRPr>
            </a:pPr>
            <a:r>
              <a:rPr sz="1950" b="1">
                <a:solidFill>
                  <a:srgbClr val="102D25"/>
                </a:solidFill>
              </a:rPr>
              <a:t>BondOps keeps the entitlement, payment and retirement state in Solana program accounts.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E8162-C6A6-4BC8-8BEC-73092033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BONDOPS  |  KASE × SUPERTEAM KAZAKHSTAN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2792D-A124-48C3-86C6-2F859BC7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2711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42A83-EC43-42D0-9625-7830EA7C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C875D"/>
                </a:solidFill>
              </a:defRPr>
            </a:pPr>
            <a:r>
              <a:rPr sz="975" b="1">
                <a:solidFill>
                  <a:srgbClr val="6C875D"/>
                </a:solidFill>
              </a:rPr>
              <a:t>END-TO-END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72A81-3166-43C5-A349-8DB9C5BA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D25"/>
                </a:solidFill>
              </a:defRPr>
            </a:pPr>
            <a:r>
              <a:rPr sz="2625" b="1">
                <a:solidFill>
                  <a:srgbClr val="102D25"/>
                </a:solidFill>
              </a:rPr>
              <a:t>Four on-chain stages cover the bond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80BA9-B291-4A7D-9124-ADABAC82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The issuer queues actions before their record dates. The program controls the sequence and preserves the resulting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95305-A3EA-4C19-9270-45649A75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D0F30-700F-4BCC-B323-711C85F6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479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6EF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B739A-DFA8-475A-8A03-4AA405E4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7291B-4940-433F-AA8B-727294F0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7F6EF"/>
                </a:solidFill>
              </a:defRPr>
            </a:pPr>
            <a:r>
              <a:rPr sz="1200" b="1">
                <a:solidFill>
                  <a:srgbClr val="F7F6E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E09D0-C498-453F-AB2B-551E726E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25"/>
                </a:solidFill>
              </a:defRPr>
            </a:pPr>
            <a:r>
              <a:rPr sz="1875" b="1">
                <a:solidFill>
                  <a:srgbClr val="102D25"/>
                </a:solidFill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6D0B4-E9D1-4201-9552-E18296A5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Create the SPL bond mint and controlled holder registry.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C8A56-0FA2-4E54-A11F-BF3DDABC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1000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C87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17C31-F8F4-4CAC-9C36-44C4B0CD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2479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FE3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45E14-5597-45D9-B005-B95F50AE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8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B56D1-A2F6-4355-AF98-C07578E1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765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7F6EF"/>
                </a:solidFill>
              </a:defRPr>
            </a:pPr>
            <a:r>
              <a:rPr sz="1200" b="1">
                <a:solidFill>
                  <a:srgbClr val="F7F6E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E64ED-7FA1-4E77-A850-4289C14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19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25"/>
                </a:solidFill>
              </a:defRPr>
            </a:pPr>
            <a:r>
              <a:rPr sz="1875" b="1">
                <a:solidFill>
                  <a:srgbClr val="102D25"/>
                </a:solidFill>
              </a:rPr>
              <a:t>Record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10E5A-48F3-4203-BF08-5C984127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576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Freeze transfers at the cutoff and snapshot eligible balances.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3584C-3DE6-4BF2-B734-C6D05B4C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1000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C87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CB1D3-4D88-4D81-994C-0AF6B8B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2479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6EF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5DE9C-6C5C-44A7-B8CD-A216FB22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F7B15-AB94-4BF0-A5DE-1AA2049B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765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7F6EF"/>
                </a:solidFill>
              </a:defRPr>
            </a:pPr>
            <a:r>
              <a:rPr sz="1200" b="1">
                <a:solidFill>
                  <a:srgbClr val="F7F6E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0E5F8-3047-49FB-8F96-4015C30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25"/>
                </a:solidFill>
              </a:defRPr>
            </a:pPr>
            <a:r>
              <a:rPr sz="1875" b="1">
                <a:solidFill>
                  <a:srgbClr val="102D25"/>
                </a:solidFill>
              </a:rPr>
              <a:t>Settle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4CF81-6A10-4620-B8A8-B69D57D4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Fund the action vault and pay each immutable entitlement.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7E9B9-FE8B-450F-9E91-697A11DC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C87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A26DC-C954-4F53-BC47-936FBF6C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22479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6EF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4A2B1-F76B-431D-9ECA-1052BA0E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90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A8186-0363-4401-95A7-6ECB3FD3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7657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7F6EF"/>
                </a:solidFill>
              </a:defRPr>
            </a:pPr>
            <a:r>
              <a:rPr sz="1200" b="1">
                <a:solidFill>
                  <a:srgbClr val="F7F6E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C1D89-4D5C-4672-A116-8E3C186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19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02D25"/>
                </a:solidFill>
              </a:defRPr>
            </a:pPr>
            <a:r>
              <a:rPr sz="1875" b="1">
                <a:solidFill>
                  <a:srgbClr val="102D25"/>
                </a:solidFill>
              </a:rPr>
              <a:t>Redeem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D9DD5-6160-49B1-A5C9-6956E4C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57650"/>
            <a:ext cx="1828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Pay principal and burn the matching bond tokens atomically.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1B543-6017-4E65-8B23-37D55415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6C875D"/>
                </a:solidFill>
              </a:defRPr>
            </a:pPr>
            <a:r>
              <a:rPr sz="1350" b="1">
                <a:solidFill>
                  <a:srgbClr val="6C875D"/>
                </a:solidFill>
              </a:rPr>
              <a:t>Additional action included: snapshot-weighted bondholder voting with a 50% quorum and strict majority.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61353-BC8C-478F-9243-B4E50EB8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BONDOPS  |  KASE × SUPERTEAM KAZAKHSTAN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CC9FC-6000-4098-B8A8-31FF5C64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1817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7AE63-1F01-49C9-B557-53BA6BFB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C875D"/>
                </a:solidFill>
              </a:defRPr>
            </a:pPr>
            <a:r>
              <a:rPr sz="975" b="1">
                <a:solidFill>
                  <a:srgbClr val="6C875D"/>
                </a:solidFill>
              </a:rPr>
              <a:t>RECORD 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EFD92-75EC-4DDD-BF17-5BF924D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D25"/>
                </a:solidFill>
              </a:defRPr>
            </a:pPr>
            <a:r>
              <a:rPr sz="2625" b="1">
                <a:solidFill>
                  <a:srgbClr val="102D25"/>
                </a:solidFill>
              </a:rPr>
              <a:t>The program protects ownership at the contractual cutoff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88BA9-6544-4F63-BE2E-010D5CB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A late executor cannot alter historical entitlement ownership by taking a snapshot after transfers have happened.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60FCC-B2E2-4869-AC34-FD0B5D3C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608E4-7F7E-4665-A2BA-6AB368BA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100393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6C87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BAB43-B03D-4BAA-99BD-2317A0F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908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BA3B9-1720-4D58-AB6E-3DBC3B5A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Before cutoff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26E39-5A16-4B2A-9EA0-4241EAA2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Transfers are allowed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CDB25-C272-4E7A-A0E8-DAA6CB4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B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0B61D-4F00-4CA4-811B-C89DA90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57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Record 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7CB3C-7004-4B9C-82D3-F32C434A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7338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Transfers freeze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DED60-A387-4B17-8BCB-39C488EC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908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9DFDE-3A1A-4A06-81B0-B114E3D6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57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Snapshot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02D95-C198-462D-889E-2E729F74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338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Balances and amounts become immutable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27EF3-40CB-4D58-A553-A0D5E629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908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2D9B6-BABF-45CC-9DFB-A5F72D00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57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7BD37-3877-4F36-9FA0-0C51B0E5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338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0706A"/>
                </a:solidFill>
              </a:defRPr>
            </a:pPr>
            <a:r>
              <a:rPr sz="1200" b="0">
                <a:solidFill>
                  <a:srgbClr val="60706A"/>
                </a:solidFill>
              </a:rPr>
              <a:t>Each holder receives the recorded amount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7DE7-219D-4A3F-A66D-873889DE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57750"/>
            <a:ext cx="8915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EFE3"/>
          </a:solidFill>
          <a:ln xmlns:a="http://schemas.openxmlformats.org/drawingml/2006/main" w="9525">
            <a:solidFill>
              <a:srgbClr val="C7D4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9D37B-0023-48DE-B6E1-88EB09ED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48250"/>
            <a:ext cx="832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D25"/>
                </a:solidFill>
              </a:defRPr>
            </a:pPr>
            <a:r>
              <a:rPr sz="1425" b="1">
                <a:solidFill>
                  <a:srgbClr val="102D25"/>
                </a:solidFill>
              </a:rPr>
              <a:t>Example: a seller who transfers after the snapshot keeps that coupon entitlement. The buyer receives rights from the next eligible record date.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03701-0CE0-4535-BA62-74EB224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BONDOPS  |  KASE × SUPERTEAM KAZAKHSTAN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A3D5C-2E09-4DA2-870E-1EED1425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2507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F68D4-FCEC-4F1D-89FA-EE32A5C6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C875D"/>
                </a:solidFill>
              </a:defRPr>
            </a:pPr>
            <a:r>
              <a:rPr sz="975" b="1">
                <a:solidFill>
                  <a:srgbClr val="6C875D"/>
                </a:solidFill>
              </a:rPr>
              <a:t>SETTLEMENT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C507B-0BC0-4725-BC63-7E9ED3FF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D25"/>
                </a:solidFill>
              </a:defRPr>
            </a:pPr>
            <a:r>
              <a:rPr sz="2625" b="1">
                <a:solidFill>
                  <a:srgbClr val="102D25"/>
                </a:solidFill>
              </a:rPr>
              <a:t>Funding and payment stay traceable and resumable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22172-914C-431C-8BF2-30CE0A73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A separate token vault supports each action. The program requires full funding before the first beneficiary payment.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6C3A0-3D6B-4649-8F12-C7EAEE66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2AEF9-4564-427E-AC85-8CC6973E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7F6EF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B2EBC-AE33-457B-837E-B887191D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8FB0B-7CC1-448B-A4DB-F0F166BB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289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7F6EF"/>
                </a:solidFill>
              </a:defRPr>
            </a:pPr>
            <a:r>
              <a:rPr sz="1200" b="1">
                <a:solidFill>
                  <a:srgbClr val="F7F6EF"/>
                </a:solidFill>
              </a:rPr>
              <a:t>Fund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F3402-5E68-4228-B2C1-7C31664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D25"/>
                </a:solidFill>
              </a:defRPr>
            </a:pPr>
            <a:r>
              <a:rPr sz="1500" b="1">
                <a:solidFill>
                  <a:srgbClr val="102D25"/>
                </a:solidFill>
              </a:rPr>
              <a:t>Issuer deposits the entire obligation into the action vault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9A77A-A25C-4829-AD1B-29E74041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EFE3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0B761-2306-4A21-9F55-AA50F1A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C8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303B9-6057-49F8-9BA6-E623622C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7F6EF"/>
                </a:solidFill>
              </a:defRPr>
            </a:pPr>
            <a:r>
              <a:rPr sz="1200" b="1">
                <a:solidFill>
                  <a:srgbClr val="F7F6EF"/>
                </a:solidFill>
              </a:rPr>
              <a:t>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9F1D3-1F95-4307-A05E-ACDA89F4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528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D25"/>
                </a:solidFill>
              </a:defRPr>
            </a:pPr>
            <a:r>
              <a:rPr sz="1500" b="1">
                <a:solidFill>
                  <a:srgbClr val="102D25"/>
                </a:solidFill>
              </a:rPr>
              <a:t>Program transfers the exact snapshot amount and writes a paid 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8F0CC-D6A1-47EE-A258-678BF28E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7F6EF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16E80-31FC-45FD-A72C-B5D2F1E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1181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1B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80C2F-4E1C-4216-AB3F-6FE218EB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7F6EF"/>
                </a:solidFill>
              </a:defRPr>
            </a:pPr>
            <a:r>
              <a:rPr sz="1200" b="1">
                <a:solidFill>
                  <a:srgbClr val="F7F6EF"/>
                </a:solidFill>
              </a:rPr>
              <a:t>Resume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C460D-66FB-4CC1-ADB8-1803C328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244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D25"/>
                </a:solidFill>
              </a:defRPr>
            </a:pPr>
            <a:r>
              <a:rPr sz="1500" b="1">
                <a:solidFill>
                  <a:srgbClr val="102D25"/>
                </a:solidFill>
              </a:rPr>
              <a:t>A new executor skips paid entries and continues the interrupted 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971B7-8732-40DD-AA29-BFBD5EE1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6C875D"/>
                </a:solidFill>
              </a:defRPr>
            </a:pPr>
            <a:r>
              <a:rPr sz="1575" b="1">
                <a:solidFill>
                  <a:srgbClr val="6C875D"/>
                </a:solidFill>
              </a:rPr>
              <a:t>Result: every action account preserves entitlement quantities, amounts, paid status and settlement timestamps.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A6063-6088-4C0C-9EA1-C2E04A4C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BONDOPS  |  KASE × SUPERTEAM KAZAKHSTAN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970AC-A054-4534-A5BF-1E1377D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9991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B674E-37EF-4777-951F-4CB5D3B6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C875D"/>
                </a:solidFill>
              </a:defRPr>
            </a:pPr>
            <a:r>
              <a:rPr sz="975" b="1">
                <a:solidFill>
                  <a:srgbClr val="6C875D"/>
                </a:solidFill>
              </a:rPr>
              <a:t>VERIFIED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DE214-892C-4EDD-BC28-AF9DAE8C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2D25"/>
                </a:solidFill>
              </a:defRPr>
            </a:pPr>
            <a:r>
              <a:rPr sz="2625" b="1">
                <a:solidFill>
                  <a:srgbClr val="102D25"/>
                </a:solidFill>
              </a:rPr>
              <a:t>Maturity closes the instrument with reconciled on-chain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AD584-FCB6-4BEA-A3F2-7943251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0706A"/>
                </a:solidFill>
              </a:defRPr>
            </a:pPr>
            <a:r>
              <a:rPr sz="1350" b="0">
                <a:solidFill>
                  <a:srgbClr val="60706A"/>
                </a:solidFill>
              </a:rPr>
              <a:t>Each redemption entry transfers principal, reduces the registry position and burns the same bond quantity in one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8EBE4-ACE1-47A6-8D17-96920261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47A68-A99C-4F01-979F-B2902D46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200400" cy="173355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DB315-9883-4223-B97D-14ED6A52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6C875D"/>
                </a:solidFill>
              </a:defRPr>
            </a:pPr>
            <a:r>
              <a:rPr sz="2925" b="1">
                <a:solidFill>
                  <a:srgbClr val="6C875D"/>
                </a:solidFill>
              </a:rPr>
              <a:t>$22,000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D0636-72C9-4869-9CFB-77C10041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0706A"/>
                </a:solidFill>
              </a:defRPr>
            </a:pPr>
            <a:r>
              <a:rPr sz="1275" b="1">
                <a:solidFill>
                  <a:srgbClr val="60706A"/>
                </a:solidFill>
              </a:rPr>
              <a:t>DemoUSD paid to investors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0FD5D-C982-402B-B6BB-8B1EF04A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3200400" cy="173355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102D25"/>
          </a:solidFill>
          <a:ln xmlns:a="http://schemas.openxmlformats.org/drawingml/2006/main" w="9525">
            <a:solidFill>
              <a:srgbClr val="102D2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1CEEC-D0AC-46D1-B0D5-A1BFEA2D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C7E36A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C7E36A"/>
                </a:solidFill>
              </a:defRPr>
            </a:pPr>
            <a:r>
              <a:rPr sz="2925" b="1">
                <a:solidFill>
                  <a:srgbClr val="C7E36A"/>
                </a:solidFill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D33FD-4DC6-42DA-B784-69E67A9A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481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7D4BC"/>
                </a:solidFill>
              </a:defRPr>
            </a:pPr>
            <a:r>
              <a:rPr sz="1275" b="1">
                <a:solidFill>
                  <a:srgbClr val="C7D4BC"/>
                </a:solidFill>
              </a:rPr>
              <a:t>Bond tokens retired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9485C-359A-44F2-97D3-EB29FBF6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200400" cy="173355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CE446-24F2-4379-BBD3-4150C2C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623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6C875D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6C875D"/>
                </a:solidFill>
              </a:defRPr>
            </a:pPr>
            <a:r>
              <a:rPr sz="2925" b="1">
                <a:solidFill>
                  <a:srgbClr val="6C875D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8A840-B878-45AA-93D5-26E0681A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0706A"/>
                </a:solidFill>
              </a:defRPr>
            </a:pPr>
            <a:r>
              <a:rPr sz="1275" b="1">
                <a:solidFill>
                  <a:srgbClr val="60706A"/>
                </a:solidFill>
              </a:rPr>
              <a:t>Outstanding supply after redemption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00514-7964-4529-98C3-8B22901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D25"/>
                </a:solidFill>
              </a:defRPr>
            </a:pPr>
            <a:r>
              <a:rPr sz="1650" b="1">
                <a:solidFill>
                  <a:srgbClr val="102D25"/>
                </a:solidFill>
              </a:rPr>
              <a:t>The audit screen reconciles registry quantity, custody balance, bond mint supply and every action obligation.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DF657-7124-4B3B-BB07-6CD6363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BONDOPS  |  KASE × SUPERTEAM KAZAKHSTAN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32A3C-174B-42A8-A079-4A15E0F2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60706A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60706A"/>
                </a:solidFill>
              </a:defRPr>
            </a:pPr>
            <a:r>
              <a:rPr sz="750" b="1">
                <a:solidFill>
                  <a:srgbClr val="60706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5123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2DF86-D62C-4DB3-9770-6B51381A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7E36A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7E36A"/>
                </a:solidFill>
              </a:defRPr>
            </a:pPr>
            <a:r>
              <a:rPr sz="1050" b="1">
                <a:solidFill>
                  <a:srgbClr val="C7E36A"/>
                </a:solidFill>
              </a:rPr>
              <a:t>READY FOR THE KASE SIDE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BEA20-C0B3-40E3-9478-B2565947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7F6EF"/>
                </a:solidFill>
              </a:defRPr>
            </a:pPr>
            <a:r>
              <a:rPr sz="3000" b="1">
                <a:solidFill>
                  <a:srgbClr val="F7F6EF"/>
                </a:solidFill>
              </a:rPr>
              <a:t>What the judges can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578FD-818C-4062-8416-36113B3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3B818-AA30-4CE7-A179-CBC0A8AB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6575B-20E6-4CC6-858A-ABE9E456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7F6EF"/>
                </a:solidFill>
              </a:defRPr>
            </a:pPr>
            <a:r>
              <a:rPr sz="1500" b="1">
                <a:solidFill>
                  <a:srgbClr val="F7F6EF"/>
                </a:solidFill>
              </a:rPr>
              <a:t>Working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05A51-73D3-4497-B77D-761D87F3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3842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4BC"/>
                </a:solidFill>
              </a:defRPr>
            </a:pPr>
            <a:r>
              <a:rPr sz="1200" b="0">
                <a:solidFill>
                  <a:srgbClr val="C7D4BC"/>
                </a:solidFill>
              </a:rPr>
              <a:t>github.com/whitehercig/bondops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BFF6B-26EF-42CD-92E3-C5E13DB5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89B99-C66E-4984-90FD-E95E103D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28CE8-4A6B-47BC-9B0F-98FBCFF2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527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7F6EF"/>
                </a:solidFill>
              </a:defRPr>
            </a:pPr>
            <a:r>
              <a:rPr sz="1500" b="1">
                <a:solidFill>
                  <a:srgbClr val="F7F6EF"/>
                </a:solidFill>
              </a:rPr>
              <a:t>Three required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F475C-1183-4D44-9932-8EC68197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4BC"/>
                </a:solidFill>
              </a:defRPr>
            </a:pPr>
            <a:r>
              <a:rPr sz="1200" b="0">
                <a:solidFill>
                  <a:srgbClr val="C7D4BC"/>
                </a:solidFill>
              </a:rPr>
              <a:t>Coupon payment, redemption and voting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62AEB-4982-4D12-B0CE-03BAFA88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4F165-F96D-4A55-990F-F1699F4F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DF605-B449-40C5-92E8-6ED733E0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7F6EF"/>
                </a:solidFill>
              </a:defRPr>
            </a:pPr>
            <a:r>
              <a:rPr sz="1500" b="1">
                <a:solidFill>
                  <a:srgbClr val="F7F6EF"/>
                </a:solidFill>
              </a:rPr>
              <a:t>Technical 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2119F-7382-4DF3-80CD-68DF111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95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4BC"/>
                </a:solidFill>
              </a:defRPr>
            </a:pPr>
            <a:r>
              <a:rPr sz="1200" b="0">
                <a:solidFill>
                  <a:srgbClr val="C7D4BC"/>
                </a:solidFill>
              </a:rPr>
              <a:t>Architecture, snapshots, formulas and settlement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A443B-FB3B-4F3D-9FAE-6525F18A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06BCC-9F56-4F91-8512-AA02519C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D2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D25"/>
                </a:solidFill>
              </a:defRPr>
            </a:pPr>
            <a:r>
              <a:rPr sz="1350" b="1">
                <a:solidFill>
                  <a:srgbClr val="102D25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87F7A-E7A4-44EC-BD61-822C23A0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7F6E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7F6EF"/>
                </a:solidFill>
              </a:defRPr>
            </a:pPr>
            <a:r>
              <a:rPr sz="1500" b="1">
                <a:solidFill>
                  <a:srgbClr val="F7F6EF"/>
                </a:solidFill>
              </a:rPr>
              <a:t>Demo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E254C-BF66-4C80-A555-C293F2C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7D4BC"/>
                </a:solidFill>
              </a:defRPr>
            </a:pPr>
            <a:r>
              <a:rPr sz="1200" b="0">
                <a:solidFill>
                  <a:srgbClr val="C7D4BC"/>
                </a:solidFill>
              </a:rPr>
              <a:t>Audit view, transaction records and exported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183EA-2C9A-42FC-9B78-19F2BFF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10175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7D4B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7D4BC"/>
                </a:solidFill>
              </a:defRPr>
            </a:pPr>
            <a:r>
              <a:rPr sz="1350" b="1">
                <a:solidFill>
                  <a:srgbClr val="C7D4BC"/>
                </a:solidFill>
              </a:rPr>
              <a:t>Record the 3–4 minute walk-through from docs/DEMO_SCRIPT.md</a:t>
            </a:r>
          </a:p>
          <a:p xmlns:a="http://schemas.openxmlformats.org/drawingml/2006/main">
            <a:pPr>
              <a:defRPr sz="1350" b="1">
                <a:solidFill>
                  <a:srgbClr val="C7D4BC"/>
                </a:solidFill>
              </a:defRPr>
            </a:pPr>
            <a:r>
              <a:rPr sz="1350" b="1">
                <a:solidFill>
                  <a:srgbClr val="C7D4BC"/>
                </a:solidFill>
              </a:rPr>
              <a:t>and attach its hosted link in the Colosseum form.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B144D-ACFB-4B05-A752-322F0307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7E36A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7E36A"/>
                </a:solidFill>
              </a:defRPr>
            </a:pPr>
            <a:r>
              <a:rPr sz="1050" b="1">
                <a:solidFill>
                  <a:srgbClr val="C7E36A"/>
                </a:solidFill>
              </a:rPr>
              <a:t>BondOps</a:t>
            </a:r>
          </a:p>
        </p:txBody>
      </p:sp>
    </p:spTree>
    <p:extLst>
      <p:ext uri="{BB962C8B-B14F-4D97-AF65-F5344CB8AC3E}">
        <p14:creationId xmlns:p14="http://schemas.microsoft.com/office/powerpoint/2010/main" val="177047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2026-10-12T05:17:14.7320000Z</dcterms:created>
  <dcterms:modified xsi:type="dcterms:W3CDTF">2026-10-12T05:17:14.7320000Z</dcterms:modified>
</coreProperties>
</file>